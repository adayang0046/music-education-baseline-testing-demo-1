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B3B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D7D4"/>
          </a:solidFill>
        </a:fill>
      </a:tcStyle>
    </a:wholeTbl>
    <a:band2H>
      <a:tcTxStyle b="def" i="def"/>
      <a:tcStyle>
        <a:tcBdr/>
        <a:fill>
          <a:solidFill>
            <a:srgbClr val="E8ECE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1E5D3"/>
          </a:solidFill>
        </a:fill>
      </a:tcStyle>
    </a:wholeTbl>
    <a:band2H>
      <a:tcTxStyle b="def" i="def"/>
      <a:tcStyle>
        <a:tcBdr/>
        <a:fill>
          <a:solidFill>
            <a:srgbClr val="F8F2E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D4D2"/>
          </a:solidFill>
        </a:fill>
      </a:tcStyle>
    </a:wholeTbl>
    <a:band2H>
      <a:tcTxStyle b="def" i="def"/>
      <a:tcStyle>
        <a:tcBdr/>
        <a:fill>
          <a:solidFill>
            <a:srgbClr val="F0EAE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42B3B"/>
              </a:solidFill>
              <a:prstDash val="solid"/>
              <a:round/>
            </a:ln>
          </a:top>
          <a:bottom>
            <a:ln w="25400" cap="flat">
              <a:solidFill>
                <a:srgbClr val="142B3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42B3B"/>
              </a:solidFill>
              <a:prstDash val="solid"/>
              <a:round/>
            </a:ln>
          </a:top>
          <a:bottom>
            <a:ln w="25400" cap="flat">
              <a:solidFill>
                <a:srgbClr val="142B3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D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42B3B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42B3B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42B3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142B3B"/>
              </a:solidFill>
              <a:prstDash val="solid"/>
              <a:round/>
            </a:ln>
          </a:left>
          <a:right>
            <a:ln w="12700" cap="flat">
              <a:solidFill>
                <a:srgbClr val="142B3B"/>
              </a:solidFill>
              <a:prstDash val="solid"/>
              <a:round/>
            </a:ln>
          </a:right>
          <a:top>
            <a:ln w="12700" cap="flat">
              <a:solidFill>
                <a:srgbClr val="142B3B"/>
              </a:solidFill>
              <a:prstDash val="solid"/>
              <a:round/>
            </a:ln>
          </a:top>
          <a:bottom>
            <a:ln w="12700" cap="flat">
              <a:solidFill>
                <a:srgbClr val="142B3B"/>
              </a:solidFill>
              <a:prstDash val="solid"/>
              <a:round/>
            </a:ln>
          </a:bottom>
          <a:insideH>
            <a:ln w="12700" cap="flat">
              <a:solidFill>
                <a:srgbClr val="142B3B"/>
              </a:solidFill>
              <a:prstDash val="solid"/>
              <a:round/>
            </a:ln>
          </a:insideH>
          <a:insideV>
            <a:ln w="12700" cap="flat">
              <a:solidFill>
                <a:srgbClr val="142B3B"/>
              </a:solidFill>
              <a:prstDash val="solid"/>
              <a:round/>
            </a:ln>
          </a:insideV>
        </a:tcBdr>
        <a:fill>
          <a:solidFill>
            <a:srgbClr val="142B3B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142B3B"/>
              </a:solidFill>
              <a:prstDash val="solid"/>
              <a:round/>
            </a:ln>
          </a:left>
          <a:right>
            <a:ln w="12700" cap="flat">
              <a:solidFill>
                <a:srgbClr val="142B3B"/>
              </a:solidFill>
              <a:prstDash val="solid"/>
              <a:round/>
            </a:ln>
          </a:right>
          <a:top>
            <a:ln w="12700" cap="flat">
              <a:solidFill>
                <a:srgbClr val="142B3B"/>
              </a:solidFill>
              <a:prstDash val="solid"/>
              <a:round/>
            </a:ln>
          </a:top>
          <a:bottom>
            <a:ln w="12700" cap="flat">
              <a:solidFill>
                <a:srgbClr val="142B3B"/>
              </a:solidFill>
              <a:prstDash val="solid"/>
              <a:round/>
            </a:ln>
          </a:bottom>
          <a:insideH>
            <a:ln w="12700" cap="flat">
              <a:solidFill>
                <a:srgbClr val="142B3B"/>
              </a:solidFill>
              <a:prstDash val="solid"/>
              <a:round/>
            </a:ln>
          </a:insideH>
          <a:insideV>
            <a:ln w="12700" cap="flat">
              <a:solidFill>
                <a:srgbClr val="142B3B"/>
              </a:solidFill>
              <a:prstDash val="solid"/>
              <a:round/>
            </a:ln>
          </a:insideV>
        </a:tcBdr>
        <a:fill>
          <a:solidFill>
            <a:srgbClr val="142B3B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142B3B"/>
              </a:solidFill>
              <a:prstDash val="solid"/>
              <a:round/>
            </a:ln>
          </a:left>
          <a:right>
            <a:ln w="12700" cap="flat">
              <a:solidFill>
                <a:srgbClr val="142B3B"/>
              </a:solidFill>
              <a:prstDash val="solid"/>
              <a:round/>
            </a:ln>
          </a:right>
          <a:top>
            <a:ln w="50800" cap="flat">
              <a:solidFill>
                <a:srgbClr val="142B3B"/>
              </a:solidFill>
              <a:prstDash val="solid"/>
              <a:round/>
            </a:ln>
          </a:top>
          <a:bottom>
            <a:ln w="12700" cap="flat">
              <a:solidFill>
                <a:srgbClr val="142B3B"/>
              </a:solidFill>
              <a:prstDash val="solid"/>
              <a:round/>
            </a:ln>
          </a:bottom>
          <a:insideH>
            <a:ln w="12700" cap="flat">
              <a:solidFill>
                <a:srgbClr val="142B3B"/>
              </a:solidFill>
              <a:prstDash val="solid"/>
              <a:round/>
            </a:ln>
          </a:insideH>
          <a:insideV>
            <a:ln w="12700" cap="flat">
              <a:solidFill>
                <a:srgbClr val="142B3B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142B3B"/>
      </a:tcTxStyle>
      <a:tcStyle>
        <a:tcBdr>
          <a:left>
            <a:ln w="12700" cap="flat">
              <a:solidFill>
                <a:srgbClr val="142B3B"/>
              </a:solidFill>
              <a:prstDash val="solid"/>
              <a:round/>
            </a:ln>
          </a:left>
          <a:right>
            <a:ln w="12700" cap="flat">
              <a:solidFill>
                <a:srgbClr val="142B3B"/>
              </a:solidFill>
              <a:prstDash val="solid"/>
              <a:round/>
            </a:ln>
          </a:right>
          <a:top>
            <a:ln w="12700" cap="flat">
              <a:solidFill>
                <a:srgbClr val="142B3B"/>
              </a:solidFill>
              <a:prstDash val="solid"/>
              <a:round/>
            </a:ln>
          </a:top>
          <a:bottom>
            <a:ln w="25400" cap="flat">
              <a:solidFill>
                <a:srgbClr val="142B3B"/>
              </a:solidFill>
              <a:prstDash val="solid"/>
              <a:round/>
            </a:ln>
          </a:bottom>
          <a:insideH>
            <a:ln w="12700" cap="flat">
              <a:solidFill>
                <a:srgbClr val="142B3B"/>
              </a:solidFill>
              <a:prstDash val="solid"/>
              <a:round/>
            </a:ln>
          </a:insideH>
          <a:insideV>
            <a:ln w="12700" cap="flat">
              <a:solidFill>
                <a:srgbClr val="142B3B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j-lt"/>
        <a:ea typeface="+mj-ea"/>
        <a:cs typeface="+mj-cs"/>
        <a:sym typeface="Helvetica Neue"/>
      </a:defRPr>
    </a:lvl1pPr>
    <a:lvl2pPr indent="228600" latinLnBrk="0">
      <a:defRPr>
        <a:latin typeface="+mj-lt"/>
        <a:ea typeface="+mj-ea"/>
        <a:cs typeface="+mj-cs"/>
        <a:sym typeface="Helvetica Neue"/>
      </a:defRPr>
    </a:lvl2pPr>
    <a:lvl3pPr indent="457200" latinLnBrk="0">
      <a:defRPr>
        <a:latin typeface="+mj-lt"/>
        <a:ea typeface="+mj-ea"/>
        <a:cs typeface="+mj-cs"/>
        <a:sym typeface="Helvetica Neue"/>
      </a:defRPr>
    </a:lvl3pPr>
    <a:lvl4pPr indent="685800" latinLnBrk="0">
      <a:defRPr>
        <a:latin typeface="+mj-lt"/>
        <a:ea typeface="+mj-ea"/>
        <a:cs typeface="+mj-cs"/>
        <a:sym typeface="Helvetica Neue"/>
      </a:defRPr>
    </a:lvl4pPr>
    <a:lvl5pPr indent="914400" latinLnBrk="0">
      <a:defRPr>
        <a:latin typeface="+mj-lt"/>
        <a:ea typeface="+mj-ea"/>
        <a:cs typeface="+mj-cs"/>
        <a:sym typeface="Helvetica Neue"/>
      </a:defRPr>
    </a:lvl5pPr>
    <a:lvl6pPr indent="1143000" latinLnBrk="0">
      <a:defRPr>
        <a:latin typeface="+mj-lt"/>
        <a:ea typeface="+mj-ea"/>
        <a:cs typeface="+mj-cs"/>
        <a:sym typeface="Helvetica Neue"/>
      </a:defRPr>
    </a:lvl6pPr>
    <a:lvl7pPr indent="1371600" latinLnBrk="0">
      <a:defRPr>
        <a:latin typeface="+mj-lt"/>
        <a:ea typeface="+mj-ea"/>
        <a:cs typeface="+mj-cs"/>
        <a:sym typeface="Helvetica Neue"/>
      </a:defRPr>
    </a:lvl7pPr>
    <a:lvl8pPr indent="1600200" latinLnBrk="0">
      <a:defRPr>
        <a:latin typeface="+mj-lt"/>
        <a:ea typeface="+mj-ea"/>
        <a:cs typeface="+mj-cs"/>
        <a:sym typeface="Helvetica Neue"/>
      </a:defRPr>
    </a:lvl8pPr>
    <a:lvl9pPr indent="1828800" latinLnBrk="0">
      <a:defRPr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Project overview</a:t>
            </a:r>
          </a:p>
        </p:txBody>
      </p:sp>
      <p:sp>
        <p:nvSpPr>
          <p:cNvPr id="21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22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01 / 12</a:t>
            </a:r>
          </a:p>
        </p:txBody>
      </p:sp>
      <p:sp>
        <p:nvSpPr>
          <p:cNvPr id="23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XR piano learning</a:t>
            </a:r>
          </a:p>
        </p:txBody>
      </p:sp>
      <p:sp>
        <p:nvSpPr>
          <p:cNvPr id="24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Unity + Meta Quest 3 + AKAI MPK mini</a:t>
            </a:r>
          </a:p>
        </p:txBody>
      </p:sp>
      <p:sp>
        <p:nvSpPr>
          <p:cNvPr id="25" name="Text 12"/>
          <p:cNvSpPr txBox="1"/>
          <p:nvPr/>
        </p:nvSpPr>
        <p:spPr>
          <a:xfrm>
            <a:off x="640080" y="304495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Learning experience</a:t>
            </a:r>
          </a:p>
        </p:txBody>
      </p:sp>
      <p:sp>
        <p:nvSpPr>
          <p:cNvPr id="26" name="Text 13"/>
          <p:cNvSpPr txBox="1"/>
          <p:nvPr/>
        </p:nvSpPr>
        <p:spPr>
          <a:xfrm>
            <a:off x="3566159" y="304495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Falling notes, MIDI input, and immediate performance feedback.</a:t>
            </a:r>
          </a:p>
        </p:txBody>
      </p:sp>
      <p:sp>
        <p:nvSpPr>
          <p:cNvPr id="27" name="Text 14"/>
          <p:cNvSpPr txBox="1"/>
          <p:nvPr/>
        </p:nvSpPr>
        <p:spPr>
          <a:xfrm>
            <a:off x="640080" y="455371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Current stage</a:t>
            </a:r>
          </a:p>
        </p:txBody>
      </p:sp>
      <p:sp>
        <p:nvSpPr>
          <p:cNvPr id="28" name="Text 15"/>
          <p:cNvSpPr txBox="1"/>
          <p:nvPr/>
        </p:nvSpPr>
        <p:spPr>
          <a:xfrm>
            <a:off x="3566159" y="455371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A modular functional demo for beginner piano exercises.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Code structure</a:t>
            </a:r>
          </a:p>
        </p:txBody>
      </p:sp>
      <p:sp>
        <p:nvSpPr>
          <p:cNvPr id="31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32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02 / 12</a:t>
            </a:r>
          </a:p>
        </p:txBody>
      </p:sp>
      <p:sp>
        <p:nvSpPr>
          <p:cNvPr id="33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Rhythm/Core</a:t>
            </a:r>
          </a:p>
        </p:txBody>
      </p:sp>
      <p:sp>
        <p:nvSpPr>
          <p:cNvPr id="34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Lesson models, shared clock, session state, and scoring.</a:t>
            </a:r>
          </a:p>
        </p:txBody>
      </p:sp>
      <p:sp>
        <p:nvSpPr>
          <p:cNvPr id="35" name="Text 12"/>
          <p:cNvSpPr txBox="1"/>
          <p:nvPr/>
        </p:nvSpPr>
        <p:spPr>
          <a:xfrm>
            <a:off x="640080" y="2450590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Rhythm/Unity</a:t>
            </a:r>
          </a:p>
        </p:txBody>
      </p:sp>
      <p:sp>
        <p:nvSpPr>
          <p:cNvPr id="36" name="Text 13"/>
          <p:cNvSpPr txBox="1"/>
          <p:nvPr/>
        </p:nvSpPr>
        <p:spPr>
          <a:xfrm>
            <a:off x="3566159" y="2450590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JSON loading, controller, falling notes, and feedback.</a:t>
            </a:r>
          </a:p>
        </p:txBody>
      </p:sp>
      <p:sp>
        <p:nvSpPr>
          <p:cNvPr id="37" name="Text 14"/>
          <p:cNvSpPr txBox="1"/>
          <p:nvPr/>
        </p:nvSpPr>
        <p:spPr>
          <a:xfrm>
            <a:off x="640080" y="3364991"/>
            <a:ext cx="2743201" cy="583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Editor/MIDI + MIDI/Network</a:t>
            </a:r>
          </a:p>
        </p:txBody>
      </p:sp>
      <p:sp>
        <p:nvSpPr>
          <p:cNvPr id="38" name="Text 15"/>
          <p:cNvSpPr txBox="1"/>
          <p:nvPr/>
        </p:nvSpPr>
        <p:spPr>
          <a:xfrm>
            <a:off x="3566159" y="3364991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Mac USB input and the Wi-Fi relay.</a:t>
            </a:r>
          </a:p>
        </p:txBody>
      </p:sp>
      <p:sp>
        <p:nvSpPr>
          <p:cNvPr id="39" name="Text 16"/>
          <p:cNvSpPr txBox="1"/>
          <p:nvPr/>
        </p:nvSpPr>
        <p:spPr>
          <a:xfrm>
            <a:off x="640080" y="42793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XR</a:t>
            </a:r>
          </a:p>
        </p:txBody>
      </p:sp>
      <p:sp>
        <p:nvSpPr>
          <p:cNvPr id="40" name="Text 17"/>
          <p:cNvSpPr txBox="1"/>
          <p:nvPr/>
        </p:nvSpPr>
        <p:spPr>
          <a:xfrm>
            <a:off x="3566159" y="42793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Hand tracking, gesture controls, and headset presentation.</a:t>
            </a:r>
          </a:p>
        </p:txBody>
      </p:sp>
      <p:sp>
        <p:nvSpPr>
          <p:cNvPr id="41" name="Text 18"/>
          <p:cNvSpPr txBox="1"/>
          <p:nvPr/>
        </p:nvSpPr>
        <p:spPr>
          <a:xfrm>
            <a:off x="640080" y="5193791"/>
            <a:ext cx="2743201" cy="583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Resources/Lessons · Scenes · Tests</a:t>
            </a:r>
          </a:p>
        </p:txBody>
      </p:sp>
      <p:sp>
        <p:nvSpPr>
          <p:cNvPr id="42" name="Text 19"/>
          <p:cNvSpPr txBox="1"/>
          <p:nvPr/>
        </p:nvSpPr>
        <p:spPr>
          <a:xfrm>
            <a:off x="3566159" y="51937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Lesson content, separate demos, and verification.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Lesson engine</a:t>
            </a:r>
          </a:p>
        </p:txBody>
      </p:sp>
      <p:sp>
        <p:nvSpPr>
          <p:cNvPr id="45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46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03 / 12</a:t>
            </a:r>
          </a:p>
        </p:txBody>
      </p:sp>
      <p:sp>
        <p:nvSpPr>
          <p:cNvPr id="47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48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Lesson · LessonSession · MusicalClock · OnsetEvaluator</a:t>
            </a:r>
          </a:p>
        </p:txBody>
      </p:sp>
      <p:sp>
        <p:nvSpPr>
          <p:cNvPr id="49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Main functions</a:t>
            </a:r>
          </a:p>
        </p:txBody>
      </p:sp>
      <p:sp>
        <p:nvSpPr>
          <p:cNvPr id="50" name="Text 13"/>
          <p:cNvSpPr txBox="1"/>
          <p:nvPr/>
        </p:nvSpPr>
        <p:spPr>
          <a:xfrm>
            <a:off x="3566159" y="2660904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Start / Pause / Resume / Restart manage the session.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Submit evaluates input; Advance detects missed notes.</a:t>
            </a:r>
          </a:p>
        </p:txBody>
      </p:sp>
      <p:sp>
        <p:nvSpPr>
          <p:cNvPr id="51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Connections</a:t>
            </a:r>
          </a:p>
        </p:txBody>
      </p:sp>
      <p:sp>
        <p:nvSpPr>
          <p:cNvPr id="52" name="Text 15"/>
          <p:cNvSpPr txBox="1"/>
          <p:nvPr/>
        </p:nvSpPr>
        <p:spPr>
          <a:xfrm>
            <a:off x="3566159" y="3785615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Receives NoteEvent input and produces performance results.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One clock drives both scoring and visualization.</a:t>
            </a:r>
          </a:p>
        </p:txBody>
      </p:sp>
      <p:sp>
        <p:nvSpPr>
          <p:cNvPr id="53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Design</a:t>
            </a:r>
          </a:p>
        </p:txBody>
      </p:sp>
      <p:sp>
        <p:nvSpPr>
          <p:cNvPr id="54" name="Text 17"/>
          <p:cNvSpPr txBox="1"/>
          <p:nvPr/>
        </p:nvSpPr>
        <p:spPr>
          <a:xfrm>
            <a:off x="3566159" y="4910328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Pure C# logic, independent of Unity and hardware.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Unity controller</a:t>
            </a:r>
          </a:p>
        </p:txBody>
      </p:sp>
      <p:sp>
        <p:nvSpPr>
          <p:cNvPr id="57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58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04 / 12</a:t>
            </a:r>
          </a:p>
        </p:txBody>
      </p:sp>
      <p:sp>
        <p:nvSpPr>
          <p:cNvPr id="59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60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RhythmDemoController + JsonLessonRepository</a:t>
            </a:r>
          </a:p>
        </p:txBody>
      </p:sp>
      <p:sp>
        <p:nvSpPr>
          <p:cNvPr id="61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Main functions</a:t>
            </a:r>
          </a:p>
        </p:txBody>
      </p:sp>
      <p:sp>
        <p:nvSpPr>
          <p:cNvPr id="62" name="Text 13"/>
          <p:cNvSpPr txBox="1"/>
          <p:nvPr/>
        </p:nvSpPr>
        <p:spPr>
          <a:xfrm>
            <a:off x="3566159" y="2660904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Load reads lesson JSON. The controller initializes modules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and handles Start, Pause, Resume, and Restart.</a:t>
            </a:r>
          </a:p>
        </p:txBody>
      </p:sp>
      <p:sp>
        <p:nvSpPr>
          <p:cNvPr id="63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Connections</a:t>
            </a:r>
          </a:p>
        </p:txBody>
      </p:sp>
      <p:sp>
        <p:nvSpPr>
          <p:cNvPr id="64" name="Text 15"/>
          <p:cNvSpPr txBox="1"/>
          <p:nvPr/>
        </p:nvSpPr>
        <p:spPr>
          <a:xfrm>
            <a:off x="3566159" y="3785615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Queued input is processed before scoring and rendering.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Evaluation events trigger visual and text feedback.</a:t>
            </a:r>
          </a:p>
        </p:txBody>
      </p:sp>
      <p:sp>
        <p:nvSpPr>
          <p:cNvPr id="65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Design</a:t>
            </a:r>
          </a:p>
        </p:txBody>
      </p:sp>
      <p:sp>
        <p:nvSpPr>
          <p:cNvPr id="66" name="Text 17"/>
          <p:cNvSpPr txBox="1"/>
          <p:nvPr/>
        </p:nvSpPr>
        <p:spPr>
          <a:xfrm>
            <a:off x="3566159" y="4910328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Coordinates modules; scoring stays in the lesson engine.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Presentation: notes and feedback</a:t>
            </a:r>
          </a:p>
        </p:txBody>
      </p:sp>
      <p:sp>
        <p:nvSpPr>
          <p:cNvPr id="69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70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05 / 12</a:t>
            </a:r>
          </a:p>
        </p:txBody>
      </p:sp>
      <p:sp>
        <p:nvSpPr>
          <p:cNvPr id="71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72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FallingNotePanel + DemoFeedback</a:t>
            </a:r>
          </a:p>
        </p:txBody>
      </p:sp>
      <p:sp>
        <p:nvSpPr>
          <p:cNvPr id="73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Main functions</a:t>
            </a:r>
          </a:p>
        </p:txBody>
      </p:sp>
      <p:sp>
        <p:nvSpPr>
          <p:cNvPr id="74" name="Text 13"/>
          <p:cNvSpPr txBox="1"/>
          <p:nvPr/>
        </p:nvSpPr>
        <p:spPr>
          <a:xfrm>
            <a:off x="3566159" y="2660904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Render positions notes using lesson time. ApplyFeedback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updates visuals; Complete formats the performance summary.</a:t>
            </a:r>
          </a:p>
        </p:txBody>
      </p:sp>
      <p:sp>
        <p:nvSpPr>
          <p:cNvPr id="75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Connections</a:t>
            </a:r>
          </a:p>
        </p:txBody>
      </p:sp>
      <p:sp>
        <p:nvSpPr>
          <p:cNvPr id="76" name="Text 15"/>
          <p:cNvSpPr txBox="1"/>
          <p:nvPr/>
        </p:nvSpPr>
        <p:spPr>
          <a:xfrm>
            <a:off x="3566159" y="3785615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Reads lesson data, clock time, and evaluation results.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Buttons send commands to the controller.</a:t>
            </a:r>
          </a:p>
        </p:txBody>
      </p:sp>
      <p:sp>
        <p:nvSpPr>
          <p:cNvPr id="77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Design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3566159" y="4910328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Displays results without deciding musical correctness.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MIDI input and Wi-Fi relay</a:t>
            </a:r>
          </a:p>
        </p:txBody>
      </p:sp>
      <p:sp>
        <p:nvSpPr>
          <p:cNvPr id="81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82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06 / 12</a:t>
            </a:r>
          </a:p>
        </p:txBody>
      </p:sp>
      <p:sp>
        <p:nvSpPr>
          <p:cNvPr id="83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84" name="Text 11"/>
          <p:cNvSpPr txBox="1"/>
          <p:nvPr/>
        </p:nvSpPr>
        <p:spPr>
          <a:xfrm>
            <a:off x="3566159" y="153619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MacMidiInput · MidiByteParser · UdpMidiSender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UdpMidiReceiver · QuestMidiRelay</a:t>
            </a:r>
          </a:p>
        </p:txBody>
      </p:sp>
      <p:sp>
        <p:nvSpPr>
          <p:cNvPr id="85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Main functions</a:t>
            </a:r>
          </a:p>
        </p:txBody>
      </p:sp>
      <p:sp>
        <p:nvSpPr>
          <p:cNvPr id="86" name="Text 13"/>
          <p:cNvSpPr txBox="1"/>
          <p:nvPr/>
        </p:nvSpPr>
        <p:spPr>
          <a:xfrm>
            <a:off x="3566159" y="2660904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Poll keyboard bytes, normalize NoteEvent data, send packets,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and validate received events.</a:t>
            </a:r>
          </a:p>
        </p:txBody>
      </p:sp>
      <p:sp>
        <p:nvSpPr>
          <p:cNvPr id="87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Connections</a:t>
            </a:r>
          </a:p>
        </p:txBody>
      </p:sp>
      <p:sp>
        <p:nvSpPr>
          <p:cNvPr id="88" name="Text 15"/>
          <p:cNvSpPr txBox="1"/>
          <p:nvPr/>
        </p:nvSpPr>
        <p:spPr>
          <a:xfrm>
            <a:off x="3566159" y="3785615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Keyboard → Mac USB → Wi-Fi → Quest adapter → controller</a:t>
            </a:r>
          </a:p>
        </p:txBody>
      </p:sp>
      <p:sp>
        <p:nvSpPr>
          <p:cNvPr id="89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90" name="Text 17"/>
          <p:cNvSpPr txBox="1"/>
          <p:nvPr/>
        </p:nvSpPr>
        <p:spPr>
          <a:xfrm>
            <a:off x="3566159" y="4910328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Relay implemented; complete physical playing test pending.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XR hand tracking and interaction</a:t>
            </a:r>
          </a:p>
        </p:txBody>
      </p:sp>
      <p:sp>
        <p:nvSpPr>
          <p:cNvPr id="93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94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07 / 12</a:t>
            </a:r>
          </a:p>
        </p:txBody>
      </p:sp>
      <p:sp>
        <p:nvSpPr>
          <p:cNvPr id="95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96" name="Text 11"/>
          <p:cNvSpPr txBox="1"/>
          <p:nvPr/>
        </p:nvSpPr>
        <p:spPr>
          <a:xfrm>
            <a:off x="3566159" y="153619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QuestHandGestureProvider · PinchGestureState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GestureLessonBinding · QuestLessonControls</a:t>
            </a:r>
          </a:p>
        </p:txBody>
      </p:sp>
      <p:sp>
        <p:nvSpPr>
          <p:cNvPr id="97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Main functions</a:t>
            </a:r>
          </a:p>
        </p:txBody>
      </p:sp>
      <p:sp>
        <p:nvSpPr>
          <p:cNvPr id="98" name="Text 13"/>
          <p:cNvSpPr txBox="1"/>
          <p:nvPr/>
        </p:nvSpPr>
        <p:spPr>
          <a:xfrm>
            <a:off x="3566159" y="2660904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Read hand joints; detect pinch, release, and tracking loss.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Head-gaze dwell activates fallback buttons.</a:t>
            </a:r>
          </a:p>
        </p:txBody>
      </p:sp>
      <p:sp>
        <p:nvSpPr>
          <p:cNvPr id="99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Connections</a:t>
            </a:r>
          </a:p>
        </p:txBody>
      </p:sp>
      <p:sp>
        <p:nvSpPr>
          <p:cNvPr id="100" name="Text 15"/>
          <p:cNvSpPr txBox="1"/>
          <p:nvPr/>
        </p:nvSpPr>
        <p:spPr>
          <a:xfrm>
            <a:off x="3566159" y="3785615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Pinch starts a ready lesson. UI controls call the same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controller methods used by desktop controls.</a:t>
            </a:r>
          </a:p>
        </p:txBody>
      </p:sp>
      <p:sp>
        <p:nvSpPr>
          <p:cNvPr id="101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Boundary</a:t>
            </a:r>
          </a:p>
        </p:txBody>
      </p:sp>
      <p:sp>
        <p:nvSpPr>
          <p:cNvPr id="102" name="Text 17"/>
          <p:cNvSpPr txBox="1"/>
          <p:nvPr/>
        </p:nvSpPr>
        <p:spPr>
          <a:xfrm>
            <a:off x="3566159" y="4910328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Gestures control the lesson; MIDI identifies played notes.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Finger-to-key attribution is not yet implemented.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Content, scenes, and testing</a:t>
            </a:r>
          </a:p>
        </p:txBody>
      </p:sp>
      <p:sp>
        <p:nvSpPr>
          <p:cNvPr id="105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106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08 / 12</a:t>
            </a:r>
          </a:p>
        </p:txBody>
      </p:sp>
      <p:sp>
        <p:nvSpPr>
          <p:cNvPr id="107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108" name="Text 11"/>
          <p:cNvSpPr txBox="1"/>
          <p:nvPr/>
        </p:nvSpPr>
        <p:spPr>
          <a:xfrm>
            <a:off x="3566159" y="153619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Resources/Lessons stores JSON; Scenes separates desktop,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gesture, simulated Quest, and Wi-Fi relay demos.</a:t>
            </a:r>
          </a:p>
        </p:txBody>
      </p:sp>
      <p:sp>
        <p:nvSpPr>
          <p:cNvPr id="109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Main functions</a:t>
            </a:r>
          </a:p>
        </p:txBody>
      </p:sp>
      <p:sp>
        <p:nvSpPr>
          <p:cNvPr id="110" name="Text 13"/>
          <p:cNvSpPr txBox="1"/>
          <p:nvPr/>
        </p:nvSpPr>
        <p:spPr>
          <a:xfrm>
            <a:off x="3566159" y="2660904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Scene builders assemble components. Automated tests check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timing, scoring, restart, gesture states, and network behavior.</a:t>
            </a:r>
          </a:p>
        </p:txBody>
      </p:sp>
      <p:sp>
        <p:nvSpPr>
          <p:cNvPr id="111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Connections</a:t>
            </a:r>
          </a:p>
        </p:txBody>
      </p:sp>
      <p:sp>
        <p:nvSpPr>
          <p:cNvPr id="112" name="Text 15"/>
          <p:cNvSpPr txBox="1"/>
          <p:nvPr/>
        </p:nvSpPr>
        <p:spPr>
          <a:xfrm>
            <a:off x="3566159" y="3785615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Each demo uses the same lesson engine with different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input and presentation adapters.</a:t>
            </a:r>
          </a:p>
        </p:txBody>
      </p:sp>
      <p:sp>
        <p:nvSpPr>
          <p:cNvPr id="113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Benefit</a:t>
            </a:r>
          </a:p>
        </p:txBody>
      </p:sp>
      <p:sp>
        <p:nvSpPr>
          <p:cNvPr id="114" name="Text 17"/>
          <p:cNvSpPr txBox="1"/>
          <p:nvPr/>
        </p:nvSpPr>
        <p:spPr>
          <a:xfrm>
            <a:off x="3566159" y="4910328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Test lesson logic independently, then verify hardware on Quest.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Implemented lesson flow</a:t>
            </a:r>
          </a:p>
        </p:txBody>
      </p:sp>
      <p:sp>
        <p:nvSpPr>
          <p:cNvPr id="117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118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09 / 12</a:t>
            </a:r>
          </a:p>
        </p:txBody>
      </p:sp>
      <p:sp>
        <p:nvSpPr>
          <p:cNvPr id="119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1  Load</a:t>
            </a:r>
          </a:p>
        </p:txBody>
      </p:sp>
      <p:sp>
        <p:nvSpPr>
          <p:cNvPr id="120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Read a JSON lesson: C4–G4, five notes at 60 BPM.</a:t>
            </a:r>
          </a:p>
        </p:txBody>
      </p:sp>
      <p:sp>
        <p:nvSpPr>
          <p:cNvPr id="121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2  Synchronize</a:t>
            </a:r>
          </a:p>
        </p:txBody>
      </p:sp>
      <p:sp>
        <p:nvSpPr>
          <p:cNvPr id="122" name="Text 13"/>
          <p:cNvSpPr txBox="1"/>
          <p:nvPr/>
        </p:nvSpPr>
        <p:spPr>
          <a:xfrm>
            <a:off x="3566159" y="2660904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The shared clock drives falling notes and evaluation.</a:t>
            </a:r>
          </a:p>
        </p:txBody>
      </p:sp>
      <p:sp>
        <p:nvSpPr>
          <p:cNvPr id="123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3  Evaluate</a:t>
            </a:r>
          </a:p>
        </p:txBody>
      </p:sp>
      <p:sp>
        <p:nvSpPr>
          <p:cNvPr id="124" name="Text 15"/>
          <p:cNvSpPr txBox="1"/>
          <p:nvPr/>
        </p:nvSpPr>
        <p:spPr>
          <a:xfrm>
            <a:off x="3566159" y="3785615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Check incoming MIDI events for pitch and onset timing.</a:t>
            </a:r>
          </a:p>
        </p:txBody>
      </p:sp>
      <p:sp>
        <p:nvSpPr>
          <p:cNvPr id="125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4  Respond</a:t>
            </a:r>
          </a:p>
        </p:txBody>
      </p:sp>
      <p:sp>
        <p:nvSpPr>
          <p:cNvPr id="126" name="Text 17"/>
          <p:cNvSpPr txBox="1"/>
          <p:nvPr/>
        </p:nvSpPr>
        <p:spPr>
          <a:xfrm>
            <a:off x="3566159" y="4910328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Display feedback and completion summary.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Support pause, resume, and restart.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MIDI and XR integration</a:t>
            </a:r>
          </a:p>
        </p:txBody>
      </p:sp>
      <p:sp>
        <p:nvSpPr>
          <p:cNvPr id="129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130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10 / 12</a:t>
            </a:r>
          </a:p>
        </p:txBody>
      </p:sp>
      <p:sp>
        <p:nvSpPr>
          <p:cNvPr id="131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Input path</a:t>
            </a:r>
          </a:p>
        </p:txBody>
      </p:sp>
      <p:sp>
        <p:nvSpPr>
          <p:cNvPr id="132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Keyboard → Mac USB → Wi-Fi → Quest lesson</a:t>
            </a:r>
          </a:p>
        </p:txBody>
      </p:sp>
      <p:sp>
        <p:nvSpPr>
          <p:cNvPr id="133" name="Text 12"/>
          <p:cNvSpPr txBox="1"/>
          <p:nvPr/>
        </p:nvSpPr>
        <p:spPr>
          <a:xfrm>
            <a:off x="640080" y="2660904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Hand interaction</a:t>
            </a:r>
          </a:p>
        </p:txBody>
      </p:sp>
      <p:sp>
        <p:nvSpPr>
          <p:cNvPr id="134" name="Text 13"/>
          <p:cNvSpPr txBox="1"/>
          <p:nvPr/>
        </p:nvSpPr>
        <p:spPr>
          <a:xfrm>
            <a:off x="3566159" y="2660904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Quest detects pinch, release, and tracking loss.</a:t>
            </a:r>
          </a:p>
        </p:txBody>
      </p:sp>
      <p:sp>
        <p:nvSpPr>
          <p:cNvPr id="135" name="Text 14"/>
          <p:cNvSpPr txBox="1"/>
          <p:nvPr/>
        </p:nvSpPr>
        <p:spPr>
          <a:xfrm>
            <a:off x="640080" y="3785615"/>
            <a:ext cx="274320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Lesson controls</a:t>
            </a:r>
          </a:p>
        </p:txBody>
      </p:sp>
      <p:sp>
        <p:nvSpPr>
          <p:cNvPr id="136" name="Text 15"/>
          <p:cNvSpPr txBox="1"/>
          <p:nvPr/>
        </p:nvSpPr>
        <p:spPr>
          <a:xfrm>
            <a:off x="3566159" y="3785615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Pinch starts a ready lesson; head-gaze buttons provide fallback.</a:t>
            </a:r>
          </a:p>
        </p:txBody>
      </p:sp>
      <p:sp>
        <p:nvSpPr>
          <p:cNvPr id="137" name="Text 16"/>
          <p:cNvSpPr txBox="1"/>
          <p:nvPr/>
        </p:nvSpPr>
        <p:spPr>
          <a:xfrm>
            <a:off x="640080" y="4910328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Current boundary</a:t>
            </a:r>
          </a:p>
        </p:txBody>
      </p:sp>
      <p:sp>
        <p:nvSpPr>
          <p:cNvPr id="138" name="Text 17"/>
          <p:cNvSpPr txBox="1"/>
          <p:nvPr/>
        </p:nvSpPr>
        <p:spPr>
          <a:xfrm>
            <a:off x="3566159" y="4910328"/>
            <a:ext cx="7909561" cy="60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Pinch detection is implemented. Identifying which finger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pressed a physical piano key is future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Current testing versions</a:t>
            </a:r>
          </a:p>
        </p:txBody>
      </p:sp>
      <p:sp>
        <p:nvSpPr>
          <p:cNvPr id="141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142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11 / 12</a:t>
            </a:r>
          </a:p>
        </p:txBody>
      </p:sp>
      <p:sp>
        <p:nvSpPr>
          <p:cNvPr id="143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Milestone1Demo</a:t>
            </a:r>
          </a:p>
        </p:txBody>
      </p:sp>
      <p:sp>
        <p:nvSpPr>
          <p:cNvPr id="144" name="Text 11"/>
          <p:cNvSpPr txBox="1"/>
          <p:nvPr/>
        </p:nvSpPr>
        <p:spPr>
          <a:xfrm>
            <a:off x="3566159" y="15361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Desktop lesson; physical MIDI previously verified.</a:t>
            </a:r>
          </a:p>
        </p:txBody>
      </p:sp>
      <p:sp>
        <p:nvSpPr>
          <p:cNvPr id="145" name="Text 12"/>
          <p:cNvSpPr txBox="1"/>
          <p:nvPr/>
        </p:nvSpPr>
        <p:spPr>
          <a:xfrm>
            <a:off x="640080" y="2450590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QuestGestureTest</a:t>
            </a:r>
          </a:p>
        </p:txBody>
      </p:sp>
      <p:sp>
        <p:nvSpPr>
          <p:cNvPr id="146" name="Text 13"/>
          <p:cNvSpPr txBox="1"/>
          <p:nvPr/>
        </p:nvSpPr>
        <p:spPr>
          <a:xfrm>
            <a:off x="3566159" y="2450590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Hand tracking and pinch verified on Quest.</a:t>
            </a:r>
          </a:p>
        </p:txBody>
      </p:sp>
      <p:sp>
        <p:nvSpPr>
          <p:cNvPr id="147" name="Text 14"/>
          <p:cNvSpPr txBox="1"/>
          <p:nvPr/>
        </p:nvSpPr>
        <p:spPr>
          <a:xfrm>
            <a:off x="640080" y="33649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QuestLessonDemo</a:t>
            </a:r>
          </a:p>
        </p:txBody>
      </p:sp>
      <p:sp>
        <p:nvSpPr>
          <p:cNvPr id="148" name="Text 15"/>
          <p:cNvSpPr txBox="1"/>
          <p:nvPr/>
        </p:nvSpPr>
        <p:spPr>
          <a:xfrm>
            <a:off x="3566159" y="3364991"/>
            <a:ext cx="790956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Quest lesson with simulated notes; user-tested.</a:t>
            </a:r>
          </a:p>
        </p:txBody>
      </p:sp>
      <p:sp>
        <p:nvSpPr>
          <p:cNvPr id="149" name="Text 16"/>
          <p:cNvSpPr txBox="1"/>
          <p:nvPr/>
        </p:nvSpPr>
        <p:spPr>
          <a:xfrm>
            <a:off x="640080" y="42793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QuestMidiRelayDemo</a:t>
            </a:r>
          </a:p>
        </p:txBody>
      </p:sp>
      <p:sp>
        <p:nvSpPr>
          <p:cNvPr id="150" name="Text 17"/>
          <p:cNvSpPr txBox="1"/>
          <p:nvPr/>
        </p:nvSpPr>
        <p:spPr>
          <a:xfrm>
            <a:off x="3566159" y="4279391"/>
            <a:ext cx="790956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2000">
                <a:solidFill>
                  <a:srgbClr val="253746"/>
                </a:solidFill>
              </a:defRPr>
            </a:lvl1pPr>
          </a:lstStyle>
          <a:p>
            <a:pPr/>
            <a:r>
              <a:t>Installed; Wi-Fi acknowledgement verified. Physical playing pending.</a:t>
            </a:r>
          </a:p>
        </p:txBody>
      </p:sp>
      <p:sp>
        <p:nvSpPr>
          <p:cNvPr id="151" name="Text 18"/>
          <p:cNvSpPr txBox="1"/>
          <p:nvPr/>
        </p:nvSpPr>
        <p:spPr>
          <a:xfrm>
            <a:off x="640080" y="51937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Latest checks</a:t>
            </a:r>
          </a:p>
        </p:txBody>
      </p:sp>
      <p:sp>
        <p:nvSpPr>
          <p:cNvPr id="152" name="Text 19"/>
          <p:cNvSpPr txBox="1"/>
          <p:nvPr/>
        </p:nvSpPr>
        <p:spPr>
          <a:xfrm>
            <a:off x="3566159" y="519379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26/26 targeted tests passed. Current issue: Unity reports no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MIDI device, although macOS detects the MPK mini.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2"/>
          <p:cNvSpPr txBox="1"/>
          <p:nvPr/>
        </p:nvSpPr>
        <p:spPr>
          <a:xfrm>
            <a:off x="594359" y="438912"/>
            <a:ext cx="109728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3200"/>
            </a:lvl1pPr>
          </a:lstStyle>
          <a:p>
            <a:pPr/>
            <a:r>
              <a:t>Next steps</a:t>
            </a:r>
          </a:p>
        </p:txBody>
      </p:sp>
      <p:sp>
        <p:nvSpPr>
          <p:cNvPr id="155" name="Text 3"/>
          <p:cNvSpPr/>
          <p:nvPr/>
        </p:nvSpPr>
        <p:spPr>
          <a:xfrm>
            <a:off x="594359" y="1207008"/>
            <a:ext cx="640081" cy="5029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12000"/>
              </a:lnSpc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156" name="Text 4"/>
          <p:cNvSpPr txBox="1"/>
          <p:nvPr/>
        </p:nvSpPr>
        <p:spPr>
          <a:xfrm>
            <a:off x="10881359" y="6428232"/>
            <a:ext cx="7315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687A83"/>
                </a:solidFill>
              </a:defRPr>
            </a:lvl1pPr>
          </a:lstStyle>
          <a:p>
            <a:pPr/>
            <a:r>
              <a:t>12 / 12</a:t>
            </a:r>
          </a:p>
        </p:txBody>
      </p:sp>
      <p:sp>
        <p:nvSpPr>
          <p:cNvPr id="157" name="Text 10"/>
          <p:cNvSpPr txBox="1"/>
          <p:nvPr/>
        </p:nvSpPr>
        <p:spPr>
          <a:xfrm>
            <a:off x="640080" y="153619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1  Stabilize input</a:t>
            </a:r>
          </a:p>
        </p:txBody>
      </p:sp>
      <p:sp>
        <p:nvSpPr>
          <p:cNvPr id="158" name="Text 11"/>
          <p:cNvSpPr txBox="1"/>
          <p:nvPr/>
        </p:nvSpPr>
        <p:spPr>
          <a:xfrm>
            <a:off x="3566159" y="153619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Resolve MIDI monitor detection; verify the full keyboard-to-Quest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flow and measure latency while playing.</a:t>
            </a:r>
          </a:p>
        </p:txBody>
      </p:sp>
      <p:sp>
        <p:nvSpPr>
          <p:cNvPr id="159" name="Text 12"/>
          <p:cNvSpPr txBox="1"/>
          <p:nvPr/>
        </p:nvSpPr>
        <p:spPr>
          <a:xfrm>
            <a:off x="640080" y="3044951"/>
            <a:ext cx="274320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2  Align the experience</a:t>
            </a:r>
          </a:p>
        </p:txBody>
      </p:sp>
      <p:sp>
        <p:nvSpPr>
          <p:cNvPr id="160" name="Text 13"/>
          <p:cNvSpPr txBox="1"/>
          <p:nvPr/>
        </p:nvSpPr>
        <p:spPr>
          <a:xfrm>
            <a:off x="3566159" y="304495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Calibrate note lanes to the physical keyboard.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Test chord-to-start and clearer hand feedback.</a:t>
            </a:r>
          </a:p>
        </p:txBody>
      </p:sp>
      <p:sp>
        <p:nvSpPr>
          <p:cNvPr id="161" name="Text 14"/>
          <p:cNvSpPr txBox="1"/>
          <p:nvPr/>
        </p:nvSpPr>
        <p:spPr>
          <a:xfrm>
            <a:off x="640080" y="4553711"/>
            <a:ext cx="2743201" cy="583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3  Expand the application</a:t>
            </a:r>
          </a:p>
        </p:txBody>
      </p:sp>
      <p:sp>
        <p:nvSpPr>
          <p:cNvPr id="162" name="Text 15"/>
          <p:cNvSpPr txBox="1"/>
          <p:nvPr/>
        </p:nvSpPr>
        <p:spPr>
          <a:xfrm>
            <a:off x="3566159" y="4553711"/>
            <a:ext cx="7909561" cy="609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Investigate finger attribution and laptop-free MIDI.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12000"/>
              </a:lnSpc>
              <a:defRPr sz="2000">
                <a:solidFill>
                  <a:srgbClr val="253746"/>
                </a:solidFill>
              </a:defRPr>
            </a:pPr>
            <a:r>
              <a:t>Implement the Figma UI and develop adaptive lessons.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XR MIDI">
  <a:themeElements>
    <a:clrScheme name="XR MIDI">
      <a:dk1>
        <a:srgbClr val="142B3B"/>
      </a:dk1>
      <a:lt1>
        <a:srgbClr val="3B2F27"/>
      </a:lt1>
      <a:dk2>
        <a:srgbClr val="A7A7A7"/>
      </a:dk2>
      <a:lt2>
        <a:srgbClr val="535353"/>
      </a:lt2>
      <a:accent1>
        <a:srgbClr val="4B7F73"/>
      </a:accent1>
      <a:accent2>
        <a:srgbClr val="B9C9A6"/>
      </a:accent2>
      <a:accent3>
        <a:srgbClr val="DAB66B"/>
      </a:accent3>
      <a:accent4>
        <a:srgbClr val="6C8EAD"/>
      </a:accent4>
      <a:accent5>
        <a:srgbClr val="A597B5"/>
      </a:accent5>
      <a:accent6>
        <a:srgbClr val="A56E68"/>
      </a:accent6>
      <a:hlink>
        <a:srgbClr val="0000FF"/>
      </a:hlink>
      <a:folHlink>
        <a:srgbClr val="FF00FF"/>
      </a:folHlink>
    </a:clrScheme>
    <a:fontScheme name="XR MIDI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XR MID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B3B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B3B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XR MIDI">
  <a:themeElements>
    <a:clrScheme name="XR MID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B7F73"/>
      </a:accent1>
      <a:accent2>
        <a:srgbClr val="B9C9A6"/>
      </a:accent2>
      <a:accent3>
        <a:srgbClr val="DAB66B"/>
      </a:accent3>
      <a:accent4>
        <a:srgbClr val="6C8EAD"/>
      </a:accent4>
      <a:accent5>
        <a:srgbClr val="A597B5"/>
      </a:accent5>
      <a:accent6>
        <a:srgbClr val="A56E68"/>
      </a:accent6>
      <a:hlink>
        <a:srgbClr val="0000FF"/>
      </a:hlink>
      <a:folHlink>
        <a:srgbClr val="FF00FF"/>
      </a:folHlink>
    </a:clrScheme>
    <a:fontScheme name="XR MIDI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XR MID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B3B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B3B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